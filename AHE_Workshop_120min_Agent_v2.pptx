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28A5F5"/>
          </a:solidFill>
          <a:ln w="12700">
            <a:solidFill>
              <a:srgbClr val="28A5F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Copilot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从 IDE 助手到 Agent 工作流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D4FE"/>
                </a:solidFill>
              </a:rPr>
              <a:t>客户技术团队 Workshop · 120分钟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37490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内容覆盖：GHCP 操作讲解、IDE 使用、Agent Mode、最佳实践、Live Demo、动手实验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48920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8FF"/>
                </a:solidFill>
              </a:rPr>
              <a:t>目标：让学员知道什么时候用 Ask / Plan / Agent，并能完成一次完整实验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Workshop 目标与学习成果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657600" cy="1874520"/>
          </a:xfrm>
          <a:prstGeom prst="roundRect">
            <a:avLst>
              <a:gd name="adj" fmla="val 2439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070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理解产品能力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536192"/>
            <a:ext cx="3438144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从日常 IDE 辅助延伸到 Ask / Plan / Agent 工作流，理解 GitHub Copilot 在开发闭环中的位置。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097280"/>
            <a:ext cx="3657600" cy="1874520"/>
          </a:xfrm>
          <a:prstGeom prst="roundRect">
            <a:avLst>
              <a:gd name="adj" fmla="val 2439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20700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掌握使用路径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53128" y="1536192"/>
            <a:ext cx="3438144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知道什么时候用 Ask 解释代码、什么时候先 Plan 控制 scope、什么时候让 Agent 执行明确任务。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097280"/>
            <a:ext cx="3474720" cy="1874520"/>
          </a:xfrm>
          <a:prstGeom prst="roundRect">
            <a:avLst>
              <a:gd name="adj" fmla="val 2439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2070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完成实操闭环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1536192"/>
            <a:ext cx="3255264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基于实验手册独立完成一次 feature enhancement、补测试、运行验证。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48386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383280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适合对象：客户技术团队、架构师、技术负责人、核心开发成员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3995928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895344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强调“工作流与治理边界”，而不是只展示代码生成速度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" y="450799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407408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Demo 与 Lab 采用同一 ticket service 场景，降低学习切换成本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" y="5020056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919472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实验结束后，学员应可独立复现 Ask → Plan → Agent 的最小闭环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120 分钟议程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024128"/>
            <a:ext cx="3566160" cy="512064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1024128"/>
            <a:ext cx="7680960" cy="512064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078992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环节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79392" y="1078992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讲解重点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536192"/>
            <a:ext cx="35661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536192"/>
            <a:ext cx="7680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581912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开场与目标对齐（5 min）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79392" y="1581912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Workshop 目标、受众定位、今天会交付什么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048256"/>
            <a:ext cx="3566160" cy="51206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2048256"/>
            <a:ext cx="7680960" cy="51206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09397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GHCP 核心操作与 IDE 路径（10 min）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79392" y="2093976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Chat、Inline、Terminal、代码理解与协同方式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560320"/>
            <a:ext cx="35661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2560320"/>
            <a:ext cx="7680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606040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Agent Mode 与工作流升级（10 min）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79392" y="2606040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Ask / Plan / Agent、local / CLI / cloud、审批与自治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072384"/>
            <a:ext cx="3566160" cy="51206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3072384"/>
            <a:ext cx="7680960" cy="51206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118104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Live Demo：Ask → Plan → Agent（15 min）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79392" y="3118104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在 ticket service 中完成一次完整闭环演示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584448"/>
            <a:ext cx="35661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3584448"/>
            <a:ext cx="7680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630168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实验 1：AI-DLC 全生命周期（20 min）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79392" y="3630168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需求理解、规划、实现、测试、review、PR 描述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096512"/>
            <a:ext cx="3566160" cy="51206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4096512"/>
            <a:ext cx="7680960" cy="51206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142232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Harness Engineering 讲解 + 实验（25 min）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79392" y="4142232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instructions / agents / prompt files / backpressure / 热门参考案例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608576"/>
            <a:ext cx="35661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0" y="4608576"/>
            <a:ext cx="76809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65429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Multi-Agent 讲解 + 实验（20 min）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79392" y="4654296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Planner / Developer / Test / Security / Docs 角色协作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120640"/>
            <a:ext cx="3566160" cy="51206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5120640"/>
            <a:ext cx="7680960" cy="51206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5166360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Q&amp;A 与落地建议（15 min）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79392" y="5166360"/>
            <a:ext cx="7534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从试点任务到团队 adoption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C8FF"/>
                </a:solidFill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从 IDE 助手到 Agent 工作流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23774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8FF"/>
                </a:solidFill>
              </a:rPr>
              <a:t>先把产品能力放到开发流程里，而不是孤立地介绍单个功能。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3337560"/>
            <a:ext cx="4114800" cy="0"/>
          </a:xfrm>
          <a:prstGeom prst="line">
            <a:avLst/>
          </a:prstGeom>
          <a:noFill/>
          <a:ln w="25400">
            <a:solidFill>
              <a:srgbClr val="28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4406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E8"/>
                </a:solidFill>
              </a:rPr>
              <a:t>GitHub Copilot · IDE + Agents + Best Practices + Demo + Hands-on Lab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Copilot 在技术团队中的三层价值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44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第 1 层：即时辅助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1673352"/>
            <a:ext cx="339242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代码补全、注释生成、解释代码、写测试样例。适合个人开发的瞬时问题。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3444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344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第 2 层：结构化协作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07408" y="1673352"/>
            <a:ext cx="339242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通过 Chat 明确目标、审查方案、生成分步计划。适合“先讨论，再动手”。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1234440"/>
            <a:ext cx="3611880" cy="2286000"/>
          </a:xfrm>
          <a:prstGeom prst="roundRect">
            <a:avLst>
              <a:gd name="adj" fmla="val 2000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344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第 3 层：任务代理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10728" y="1673352"/>
            <a:ext cx="3392424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Agent 跨文件执行、运行命令、回看结果并纠错。适合边界清晰的小到中型任务。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21538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14800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Workshop 的主线：从“问问题”走向“交任务”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69087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590288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并不是所有场景都应该直接 Agent：解释型问题更适合 Ask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065776"/>
            <a:ext cx="1071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技术团队真正需要的是“生产力 + 治理边界”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 使用主线：从理解到执行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926080" cy="658368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234440"/>
            <a:ext cx="8138160" cy="658368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28930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使用形态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85032" y="1289304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适用场景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892808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892808"/>
            <a:ext cx="81381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93852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Chat / 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85032" y="1938528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解释代码、理解项目、找入口、分析错误、识别 TODO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551176"/>
            <a:ext cx="2926080" cy="65836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1880" y="2551176"/>
            <a:ext cx="8138160" cy="65836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59689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Inline / Edit Suggestions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85032" y="2596896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局部补全、重构片段、生成注释、优化命名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209544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3209544"/>
            <a:ext cx="81381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2552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Plan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3255264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把需求变成步骤，先锁定范围再执行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867912"/>
            <a:ext cx="2926080" cy="65836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1880" y="3867912"/>
            <a:ext cx="8138160" cy="65836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391363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85032" y="3913632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跨文件改动、跑命令、补测试、验证结果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4526280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4526280"/>
            <a:ext cx="81381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57200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Terminal + 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85032" y="4572000"/>
            <a:ext cx="7991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把 agent 的输出纳入现有工程流程：测试、审查、提交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" y="5074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</a:rPr>
              <a:t>建议讲法：先建立“理解 → 规划 → 执行 → 验证”的主线，再把各个模式放入对应环节。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Agent Mode 核心概念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Reference: VS Code Copilot agents overview (2026-04)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3502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234440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Agent 是能围绕高层目标自主推进任务的 AI 助手：规划、改代码、跑命令、纠错、再验证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90195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01368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Agent loop 的关键是：理解任务 → 分解步骤 → 调用工具 → 观察结果 → 修正 → 结束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368296"/>
            <a:ext cx="10808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对技术团队的价值，不是替代工程师，而是承担一段边界清晰的执行链路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7588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005072"/>
            <a:ext cx="3300984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只回答问题，不主动改文件。适合理解、调研、解释。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56616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367588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53128" y="4005072"/>
            <a:ext cx="3300984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先产出结构化实现方案，再决定是否交给执行型 agent。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356616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367588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Agent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65008" y="4005072"/>
            <a:ext cx="3300984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直接执行任务，跨文件修改并使用终端/工具完成闭环。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Agent 类型：local / CLI / cloud / third-party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80160"/>
            <a:ext cx="2468880" cy="786384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1280160"/>
            <a:ext cx="8961120" cy="786384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35024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类型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335024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适用定位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066544"/>
            <a:ext cx="2468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066544"/>
            <a:ext cx="89611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12264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Local 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112264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交互式、贴近编辑器上下文，适合讨论、调试、逐步推进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2852928"/>
            <a:ext cx="246888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27248" y="2852928"/>
            <a:ext cx="896112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98648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Copilot CLI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898648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在本机后台执行，适合定义清楚的任务，让开发者继续做别的事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3639312"/>
            <a:ext cx="2468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7248" y="3639312"/>
            <a:ext cx="89611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85032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Cloud 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685032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远程执行，适合与 PR、issue、团队协作流程结合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4425696"/>
            <a:ext cx="246888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27248" y="4425696"/>
            <a:ext cx="896112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71416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Third-party agents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4471416"/>
            <a:ext cx="8814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当组织需要指定模型提供方或特定 agent harness 时使用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4983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</a:rPr>
              <a:t>建议讲法：先让客户技术团队记住“本地交互式”与“后台执行式”的区别，再引出 CLI / cloud 的扩展路径。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审批与自治：如何安全地用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898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Default Approvals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19072"/>
            <a:ext cx="325526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大多数团队的起点。读取与安全工具可自动通过，其他动作需要确认。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3898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Bypass Approvals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1719072"/>
            <a:ext cx="325526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适合边界明确、影响范围可控的任务，提高执行效率。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474720" cy="201168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38988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Autopilot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6448" y="1719072"/>
            <a:ext cx="325526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更高自治，适合标准化流程，但必须搭配清晰 guardrails。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4106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4048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对客户技术团队要明确说明：权限不是“越高越好”，而是“是否与任务边界匹配”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441655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315968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建议先从小仓库、小任务、默认审批开始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4892040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791456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让 agent 改代码前，先把验收标准说清楚：改哪些文件、补哪些测试、如何验证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最佳实践：技术团队最该讲清楚什么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2646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2588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任务表达要具体：目标、范围、约束、验收标准、验证方式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197510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7452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优先让 Agent 处理边界清晰的小任务，再逐步扩大到中型任务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252374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42316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把 Ask / Plan / Agent 当作一个组合，而不是单选题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307238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97180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对高风险仓库保留审批，对重复性任务逐步提高自治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62102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52044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要求 Agent 在完成后运行测试或给出可验证结果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73152" cy="7315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06908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保留工程师审查权：生成结果 != 可直接进入生产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Harness Engineering：重点不是 magic prompt，而是 Agent 的运行环境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References: github/awesome-copilot · walkinglabs/awesome-harness-engineering · Copilot Customization Handbook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566160" cy="1920240"/>
          </a:xfrm>
          <a:prstGeom prst="roundRect">
            <a:avLst>
              <a:gd name="adj" fmla="val 2381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4416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Prompt Engineering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1673352"/>
            <a:ext cx="334670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一次性对话技巧。适合快速尝试，但稳定性依赖个人经验，难以团队复用。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234440"/>
            <a:ext cx="3566160" cy="1920240"/>
          </a:xfrm>
          <a:prstGeom prst="roundRect">
            <a:avLst>
              <a:gd name="adj" fmla="val 2381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34416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Harness Engineering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53128" y="1673352"/>
            <a:ext cx="334670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把规则、角色、工作流、反馈机制做成仓库资产，让 Agent 更稳而不是更玄学。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23444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34416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企业价值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6448" y="1673352"/>
            <a:ext cx="32552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可复用、可治理、可版本化、可审计，适合团队级落地，而不是个人技巧秀。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3566160"/>
            <a:ext cx="2240280" cy="45720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53512" y="3566160"/>
            <a:ext cx="8686800" cy="45720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621024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Harness 维度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26664" y="3621024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在 GitHub Copilot 中的体现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4023360"/>
            <a:ext cx="2240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3512" y="4023360"/>
            <a:ext cx="86868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0690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Always-on 规则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26664" y="4069080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copilot-instructions.md：项目共识、架构边界、测试与 PR 规范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" y="4480560"/>
            <a:ext cx="2240280" cy="457200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53512" y="4480560"/>
            <a:ext cx="8686800" cy="457200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5262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角色边界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26664" y="4526280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custom agents：planner / test / security / docs 等职责划分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4937760"/>
            <a:ext cx="2240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53512" y="4937760"/>
            <a:ext cx="86868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9834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任务模板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26664" y="4983480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prompt files：把高频任务模板化，而不是每次重写 prompt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" y="5394960"/>
            <a:ext cx="2240280" cy="457200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53512" y="5394960"/>
            <a:ext cx="8686800" cy="457200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54406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能力扩展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26664" y="5440680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MCP：让 Agent 访问外部知识、服务与工具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" y="5852160"/>
            <a:ext cx="2240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53512" y="5852160"/>
            <a:ext cx="86868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589788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自动纠偏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26664" y="5897880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tests / lint / CI / hooks：让 Agent 能自己发现并修正错误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参考案例：为什么顶级团队更重视 Harness，而不是“神奇提示词”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657600" cy="1828800"/>
          </a:xfrm>
          <a:prstGeom prst="roundRect">
            <a:avLst>
              <a:gd name="adj" fmla="val 2500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34416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github/awesome-copilot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1673352"/>
            <a:ext cx="343814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把 instructions、agents、skills、hooks、workflows 组织成可复用模块，说明 customization 正在从技巧走向资产。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234440"/>
            <a:ext cx="3657600" cy="1828800"/>
          </a:xfrm>
          <a:prstGeom prst="roundRect">
            <a:avLst>
              <a:gd name="adj" fmla="val 2500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34416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walkinglabs/awesome-harness-engineering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673352"/>
            <a:ext cx="343814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把 harness 拆成 context、guardrails、specs、evals、runtime，说明这是一整层系统设计。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1234440"/>
            <a:ext cx="3246120" cy="1828800"/>
          </a:xfrm>
          <a:prstGeom prst="roundRect">
            <a:avLst>
              <a:gd name="adj" fmla="val 2500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34416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行业共识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673352"/>
            <a:ext cx="302666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效果差往往不是模型不行，而是缺少结构、边界和反馈闭环。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712464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611880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没有测试、lint、CI 的仓库，换更强模型通常只是“更会胡来”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242816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142232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好的 Harness 会让同一句 prompt 在不同工程师手里也更稳定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773168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672584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把经验沉淀成 instructions / agents / prompt files，才具备团队复用价值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7240" y="5303520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5202936"/>
            <a:ext cx="10442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企业真正需要的是可预测、可治理、可回归的 Agent，而不是偶尔惊艳一次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</a:rPr>
              <a:t>讲师建议：这一页可作为“为什么要做 Harness Engineering”的管理层解释页。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C8FF"/>
                </a:solidFill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Live Demo、Harness Engineering 与动手实验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23774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8FF"/>
                </a:solidFill>
              </a:rPr>
              <a:t>从 Agent 使用进阶到工程化 harness，再进入 AIDLC / Multi-Agent 实操。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3337560"/>
            <a:ext cx="4114800" cy="0"/>
          </a:xfrm>
          <a:prstGeom prst="line">
            <a:avLst/>
          </a:prstGeom>
          <a:noFill/>
          <a:ln w="25400">
            <a:solidFill>
              <a:srgbClr val="28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4406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E8"/>
                </a:solidFill>
              </a:rPr>
              <a:t>GitHub Copilot · IDE + Agents + Best Practices + Demo + Hands-on Lab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场景：Customer Support Ticket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657600" cy="2011680"/>
          </a:xfrm>
          <a:prstGeom prst="roundRect">
            <a:avLst>
              <a:gd name="adj" fmla="val 2273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34416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项目现状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1673352"/>
            <a:ext cx="343814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一个简化版 Express API，支持 list / create / update status。代码可快速理解，适合现场演示。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234440"/>
            <a:ext cx="3657600" cy="2011680"/>
          </a:xfrm>
          <a:prstGeom prst="roundRect">
            <a:avLst>
              <a:gd name="adj" fmla="val 2273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34416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演示目标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673352"/>
            <a:ext cx="343814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新增 /tickets/summary，返回按 status 与 priority 聚合后的统计结果。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1234440"/>
            <a:ext cx="3246120" cy="201168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34416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展示重点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673352"/>
            <a:ext cx="3026664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Ask → Plan → Agent、审批、测试验证、讲师解释治理边界。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94106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Ask：解释项目并识别 TODO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" y="4453128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52544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Plan：先产出实现步骤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9808" y="4965192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64608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Agent：跨文件修改、补测试、跑 npm test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" y="5477256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376672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讲师补充：什么时候适合 local agent，什么时候可以 handoff 到 CLI / cloud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Prompt 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0700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Ask Prompt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1536192"/>
            <a:ext cx="339242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Explain this project as if I just joined the team. Focus on API surface, data model, and obvious TODOs.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09728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20700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Plan Prompt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1536192"/>
            <a:ext cx="339242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Create a plan to add a GET /tickets/summary endpoint with grouped counts and tests.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0" y="1097280"/>
            <a:ext cx="3429000" cy="1828800"/>
          </a:xfrm>
          <a:prstGeom prst="roundRect">
            <a:avLst>
              <a:gd name="adj" fmla="val 2500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2070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Agent Prompt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2168" y="1536192"/>
            <a:ext cx="320954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Implement the /tickets/summary endpoint, add tests, and run the test suite.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80390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03320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现场提示：如果 agent 任务过大，立即缩小目标范围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" y="4334256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33672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现场提示：把“run tests when finished”写进 prompt，帮助形成闭环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9808" y="4864608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64024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现场提示：Demo 价值在工作流，不在于 prompt 写得多花哨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升级版 Hands-on Lab 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2377440" cy="74980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1325880"/>
            <a:ext cx="8778240" cy="74980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38074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实验环节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36392" y="138074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学员动作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075688"/>
            <a:ext cx="2377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075688"/>
            <a:ext cx="8778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121408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实验 1：AI-DLC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36392" y="2121408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新增 /tickets/summary，完整走 Ask → Plan → Agent → Test → Review → PR 描述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25496"/>
            <a:ext cx="2377440" cy="74980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2825496"/>
            <a:ext cx="8778240" cy="74980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7121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实验 2：Harness Engineering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36392" y="2871216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构建 instructions / planner agent / test-engineer / workflow prompt，并理解 backpressure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575304"/>
            <a:ext cx="2377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3575304"/>
            <a:ext cx="8778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62102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实验 3：Multi-Agent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36392" y="3621024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Developer → Test Engineer → Security Reviewer → Doc Writer 串行协作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325112"/>
            <a:ext cx="2377440" cy="74980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4325112"/>
            <a:ext cx="8778240" cy="749808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370832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验证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36392" y="4370832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运行 npm test；必要时启动服务验证 API；讨论治理与边界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5074920"/>
            <a:ext cx="2377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5074920"/>
            <a:ext cx="87782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5120640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复盘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36392" y="5120640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总结什么时候该用 Ask / Plan / Agent / custom agents / prompt files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" y="4846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</a:rPr>
              <a:t>升级版实验手册原则：不仅给 prompt，还给结构化 harness、角色边界和验证闭环，确保学员理解“为什么这样设计”。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实验引导话术：学员要学会的不是“一个 prompt”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26464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325880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先 Ask：理解系统与待办项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048256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947672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再 Plan：把任务拆成清楚步骤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569464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再 Agent：执行边界清晰的变更，并要求测试验证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191256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最后 Review：检查改动范围、运行结果、是否符合团队规范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77240" y="3913632"/>
            <a:ext cx="73152" cy="7315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13048"/>
            <a:ext cx="10533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</a:rPr>
              <a:t>这套流程可以迁移到真实项目中的 bug fix、小功能增强、测试补齐等任务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落地建议：从 Workshop 到团队试点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EAF5FF"/>
          </a:solidFill>
          <a:ln w="13970">
            <a:solidFill>
              <a:srgbClr val="0969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356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69DA"/>
                </a:solidFill>
              </a:rPr>
              <a:t>第 1 步：选择试点任务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1764792"/>
            <a:ext cx="32552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从低风险、边界清晰、可测试的小任务开始，例如补测试、加小接口、修局部 bug。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EAF7EE"/>
          </a:solidFill>
          <a:ln w="13970">
            <a:solidFill>
              <a:srgbClr val="1F8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4356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83D"/>
                </a:solidFill>
              </a:rPr>
              <a:t>第 2 步：确定治理方式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53128" y="1764792"/>
            <a:ext cx="32552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决定哪些仓库保留审批，哪些任务允许更高自治，谁来 review 结果。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1325880"/>
            <a:ext cx="3474720" cy="1920240"/>
          </a:xfrm>
          <a:prstGeom prst="roundRect">
            <a:avLst>
              <a:gd name="adj" fmla="val 2381"/>
            </a:avLst>
          </a:prstGeom>
          <a:solidFill>
            <a:srgbClr val="FFF3E8"/>
          </a:solidFill>
          <a:ln w="1397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4356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</a:rPr>
              <a:t>第 3 步：沉淀团队模板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10728" y="1764792"/>
            <a:ext cx="3255264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</a:rPr>
              <a:t>积累常见 prompt 模板、实验脚本、review 清单、handoff 方式。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32504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31920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Workshop 的目标不是一次性讲完所有能力，而是让团队拿到一条清晰的采用路径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562856"/>
            <a:ext cx="73152" cy="7315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62272"/>
            <a:ext cx="1062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</a:rPr>
              <a:t>客户技术团队通常最关心：可控性、验证性、与现有工程流程的兼容性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附录：交付清单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26680" y="173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6D4FE"/>
                </a:solidFill>
              </a:rPr>
              <a:t>客户技术团队 · 120分钟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606A"/>
                </a:solidFill>
              </a:rPr>
              <a:t>GitHub Copilot workshop draft · For customer enablement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2468880" cy="786384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1325880"/>
            <a:ext cx="8686800" cy="786384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380744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资产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27832" y="1380744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112264"/>
            <a:ext cx="2468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2112264"/>
            <a:ext cx="868680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157984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PPT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7832" y="2157984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120 分钟 workshop deck，覆盖 IDE、agent mode、best practices、demo、lab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246888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2898648"/>
            <a:ext cx="868680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944368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讲师 Demo 脚本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7832" y="2944368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包含时间分配、推荐 prompts、话术和备用方案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685032"/>
            <a:ext cx="24688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3685032"/>
            <a:ext cx="868680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30752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实验操作手册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27832" y="3730752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学员可逐步执行的 Ask / Plan / Agent 实验说明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471416"/>
            <a:ext cx="246888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4471416"/>
            <a:ext cx="8686800" cy="786384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517136"/>
            <a:ext cx="2322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Lab Starter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27832" y="4517136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可直接打开并运行的 Node.js ticket service 项目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24688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8FF"/>
                </a:solidFill>
              </a:rPr>
              <a:t>建议收尾问题：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8FF"/>
                </a:solidFill>
              </a:rPr>
              <a:t>1. 你会先在哪类任务中试点 Agent？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8FF"/>
                </a:solidFill>
              </a:rPr>
              <a:t>2. 你们更适合从 Default Approvals 还是 Bypass Approvals 开始？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8FF"/>
                </a:solidFill>
              </a:rPr>
              <a:t>3. 哪些任务仍然更适合 Ask / Plan？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" y="5852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E8"/>
                </a:solidFill>
              </a:rPr>
              <a:t>GitHub Copilot Workshop Draft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从 IDE 助手到 Agent 工作流</dc:title>
  <dc:subject>GitHub Copilot customer workshop with agent mode</dc:subject>
  <dc:creator>GitHub Copilot CLI</dc:creator>
  <cp:lastModifiedBy>GitHub Copilot CLI</cp:lastModifiedBy>
  <cp:revision>1</cp:revision>
  <dcterms:created xsi:type="dcterms:W3CDTF">2026-04-14T14:24:51Z</dcterms:created>
  <dcterms:modified xsi:type="dcterms:W3CDTF">2026-04-14T14:24:51Z</dcterms:modified>
</cp:coreProperties>
</file>